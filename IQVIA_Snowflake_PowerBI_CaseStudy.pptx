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7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Data Science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834640" cy="420624"/>
          </a:xfrm>
          <a:prstGeom prst="roundRect">
            <a:avLst>
              <a:gd name="adj" fmla="val 15217"/>
            </a:avLst>
          </a:prstGeom>
          <a:solidFill>
            <a:srgbClr val="009C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+ Power BI, Modernized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526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IQVIA re-platformed a global pharma's enterprise analytics onto a governed, near-real-time lakehouse.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5989320"/>
            <a:ext cx="457200" cy="457200"/>
          </a:xfrm>
          <a:prstGeom prst="ellipse">
            <a:avLst/>
          </a:prstGeom>
          <a:solidFill>
            <a:srgbClr val="16305F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11733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25296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04288" y="6144768"/>
            <a:ext cx="237744" cy="146304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2" name="Shape 9"/>
          <p:cNvSpPr/>
          <p:nvPr/>
        </p:nvSpPr>
        <p:spPr>
          <a:xfrm>
            <a:off x="2688336" y="5989320"/>
            <a:ext cx="457200" cy="457200"/>
          </a:xfrm>
          <a:prstGeom prst="ellipse">
            <a:avLst/>
          </a:prstGeom>
          <a:solidFill>
            <a:srgbClr val="16305F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611733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55264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· OneLake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91456" y="6144768"/>
            <a:ext cx="237744" cy="146304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6" name="Shape 12"/>
          <p:cNvSpPr/>
          <p:nvPr/>
        </p:nvSpPr>
        <p:spPr>
          <a:xfrm>
            <a:off x="5175504" y="5989320"/>
            <a:ext cx="457200" cy="457200"/>
          </a:xfrm>
          <a:prstGeom prst="ellipse">
            <a:avLst/>
          </a:prstGeom>
          <a:solidFill>
            <a:srgbClr val="16305F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611733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42432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Copilot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&amp; THE CHALLENGE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three things at once — without disrupting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pharma client had to move its BI off external proprietary platforms onto the corporate Power BI standard, with Snowflake as the new data platform — while preserving the depth of IQVIA's existing dashboards.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88920"/>
            <a:ext cx="603504" cy="60350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86" y="2951866"/>
            <a:ext cx="277612" cy="277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56616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cost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usage must not drive runaway Snowflake query spend.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51460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788920"/>
            <a:ext cx="603504" cy="603504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66" y="2951866"/>
            <a:ext cx="277612" cy="2776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56616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data fresh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Near-real-time insight — not overnight batch refreshes.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83880" y="251460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F7F9FC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788920"/>
            <a:ext cx="603504" cy="603504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146" y="2951866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356616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disruption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97764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dashboards must match the old ones feature-for-feature.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Re-platform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evaluated three ways to use Snowflake in Fabric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84448" cy="2697480"/>
          </a:xfrm>
          <a:prstGeom prst="roundRect">
            <a:avLst>
              <a:gd name="adj" fmla="val 3051"/>
            </a:avLst>
          </a:prstGeom>
          <a:solidFill>
            <a:srgbClr val="E7F5F6"/>
          </a:solidFill>
          <a:ln w="25400">
            <a:solidFill>
              <a:srgbClr val="009CA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20240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68373"/>
            <a:ext cx="252374" cy="2523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70048" y="193852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009CA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70048" y="1938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26060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Mirroring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3182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CDC replication into OneLake as Delta.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3886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pPr indent="0" marL="0">
              <a:buNone/>
            </a:pPr>
            <a:r>
              <a:rPr lang="en-US" sz="10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Fabric-first Power BI estates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645920"/>
            <a:ext cx="358444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9432" y="1920240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06837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99432" y="26060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Shortcut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99432" y="3182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Zero-copy read of Snowflake-managed Iceberg.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99432" y="3886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pPr indent="0" marL="0">
              <a:buNone/>
            </a:pPr>
            <a:r>
              <a:rPr lang="en-US" sz="10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architectural change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83880" y="1645920"/>
            <a:ext cx="358444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1920240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2068373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39912" y="26060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→ Iceberg in OneLake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439912" y="3182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open-format copy, no replication.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8439912" y="3886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pPr indent="0" marL="0">
              <a:buNone/>
            </a:pPr>
            <a:r>
              <a:rPr lang="en-US" sz="10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open architecture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chose mirroring: the most native Power BI experience, with changes landing in OneLake continuously and served to reports via Direct Lake.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Re-platform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once, serve everywhere — via Direct Lake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0A275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1993392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089" y="2141525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06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077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23360" y="242773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182880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009CA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20156" y="1993392"/>
            <a:ext cx="548640" cy="54864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89" y="214152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2606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Mirroring → OneLake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29077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CDC · Delta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909560" y="242773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182880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43B02A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06356" y="1993392"/>
            <a:ext cx="548640" cy="54864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489" y="2141525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606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Copilot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9077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 · AI insights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352044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CEFF7"/>
          </a:solidFill>
          <a:ln/>
        </p:spPr>
      </p:sp>
      <p:sp>
        <p:nvSpPr>
          <p:cNvPr id="22" name="Shape 17"/>
          <p:cNvSpPr/>
          <p:nvPr/>
        </p:nvSpPr>
        <p:spPr>
          <a:xfrm>
            <a:off x="676656" y="3621024"/>
            <a:ext cx="365760" cy="36576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" y="3719779"/>
            <a:ext cx="168250" cy="1682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352044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end to end   </a:t>
            </a:r>
            <a:pPr indent="0" marL="0"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· certified datasets · lineage · MDM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continuously mirrors Snowflake tables into OneLake as query-optimized Delta. Power BI reads them through Direct Lake — no import refresh, and no DirectQuery hitting Snowflake on every interaction.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Re-platform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usage, decoupled from Snowflake spend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457200" cy="45720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32788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7276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Lower, predictable cost.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 no longer trigger Snowflake queries — compute is limited to steady CDC, not usage.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574036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41401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Near-real-time freshness.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keeps OneLake current; no overnight lag and no refresh windows to manage.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41528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255264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like import.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 reads V-ordered Delta locally, without DirectQuery round-trips.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256532"/>
            <a:ext cx="210312" cy="210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409651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&amp; secure.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security, certified datasets, lineage and MDM across every report.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974336"/>
            <a:ext cx="457200" cy="45720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097780"/>
            <a:ext cx="210312" cy="2103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493776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keep fresh.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replication compute and mirroring storage are included up to capacity.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note:  </a:t>
            </a:r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 polls Snowflake continuously, so a small, predictable CDC cost remains — minimized by reusing a warehouse and mirroring only required tables.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Re-platform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seamless switch — and a cheaper one to run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48640" cy="54864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141525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70048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matched 1:1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saw no change in experience.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93392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214152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70048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disruption at cutover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15468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kept running throughout.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3880" y="173736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93392"/>
            <a:ext cx="548640" cy="54864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3" y="214152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2670048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decoupled from usage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15468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and more predictable Snowflake cost.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959352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15384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363517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9204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Near-real-time insight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3766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data, no overnight wait.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59352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15384"/>
            <a:ext cx="548640" cy="54864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4363517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489204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via Copilot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3766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questions, instant answers.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83880" y="3959352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215384"/>
            <a:ext cx="548640" cy="54864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333" y="4363517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58200" y="489204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platform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53766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Spanning every business unit.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Re-platform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IQVIA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 who has already done this at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97" y="18298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550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84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through governed, AI-ready dashboards.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12064" cy="51206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" y="288145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06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+ Snowflake depth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0358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mirroring, Direct Lake, OneLake and MDM in production.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12064" cy="51206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393301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7581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built in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087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security, certified datasets and full lineage.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49440" y="1691640"/>
            <a:ext cx="4736592" cy="3291840"/>
          </a:xfrm>
          <a:prstGeom prst="roundRect">
            <a:avLst>
              <a:gd name="adj" fmla="val 3333"/>
            </a:avLst>
          </a:prstGeom>
          <a:solidFill>
            <a:srgbClr val="0A2756"/>
          </a:solidFill>
          <a:ln/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69480" y="2011680"/>
            <a:ext cx="640080" cy="64008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302" y="2184502"/>
            <a:ext cx="294437" cy="2944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9480" y="2788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map your Snowflake + Power BI estate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7269480" y="3657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architecture assessment: we review your current reports, Snowflake usage and refresh patterns, then show the mirroring + Direct Lake target state and the switch-over plan.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Re-platform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2026-10-05T15:47:49Z</dcterms:created>
  <dcterms:modified xsi:type="dcterms:W3CDTF">2026-10-05T15:47:49Z</dcterms:modified>
</cp:coreProperties>
</file>