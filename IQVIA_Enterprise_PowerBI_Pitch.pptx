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A2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Data Science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040112" y="310896"/>
            <a:ext cx="1691640" cy="676656"/>
          </a:xfrm>
          <a:prstGeom prst="roundRect">
            <a:avLst>
              <a:gd name="adj" fmla="val 8108"/>
            </a:avLst>
          </a:prstGeom>
          <a:solidFill>
            <a:srgbClr val="0A27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310896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
</a:t>
            </a:r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8755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Single Partner for Enterprise-Wide Power BI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5564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platform for every function — powered by Microsoft Fabric &amp; Copilot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20624" cy="420624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62" y="2322210"/>
            <a:ext cx="201900" cy="201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24128" y="219456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26517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builds and runs production-grade, governed analytics at enterprise scale — from data engineering through AI-assisted dashboards business teams use every day.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401568"/>
            <a:ext cx="420624" cy="42062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62" y="3510930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832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— all your BI, one partner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24128" y="3858768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fragmented, team-by-team reporting with one governed Power BI + Fabric estate across every function.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semantic model, one source of truth — consistent, trusted KPIs everywhere.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accountable delivery team, not siloed vendors and runaway spreadsheets.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5138928"/>
            <a:ext cx="420624" cy="420624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62" y="5248290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24128" y="51206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B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what's next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024128" y="5596128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 + OneLake (Direct Lake): near-real-time dashboards, no data copies.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Power BI: plain-English Q&amp;A and auto-generated narrative insights.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governance &amp; MDM: row-level security, certified datasets, full lineage.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629400" y="2176272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ANY SOURCE TO AI-READY DASHBOARDS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629400" y="2450592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6B7A9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629400" y="2450592"/>
            <a:ext cx="148132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source
</a:t>
            </a:r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· HR · CRM · files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147304" y="2734056"/>
            <a:ext cx="228600" cy="182880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24" name="Shape 19"/>
          <p:cNvSpPr/>
          <p:nvPr/>
        </p:nvSpPr>
        <p:spPr>
          <a:xfrm>
            <a:off x="8412480" y="2450592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009CA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412480" y="2450592"/>
            <a:ext cx="148132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
</a:t>
            </a:r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 · Direct Lake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930384" y="2734056"/>
            <a:ext cx="228600" cy="182880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27" name="Shape 22"/>
          <p:cNvSpPr/>
          <p:nvPr/>
        </p:nvSpPr>
        <p:spPr>
          <a:xfrm>
            <a:off x="10195560" y="2450592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0A275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0195560" y="2450592"/>
            <a:ext cx="148132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Copilot
</a:t>
            </a:r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· AI insights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6629400" y="338328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Company-wide coverage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629400" y="3694176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3785616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086600" y="369417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9308592" y="3694176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896" y="3785616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765792" y="369417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629400" y="4206240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4297680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086600" y="42062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9308592" y="4206240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896" y="4297680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765792" y="42062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6629400" y="4718304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4" y="4809744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086600" y="47183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150" dirty="0"/>
          </a:p>
        </p:txBody>
      </p:sp>
      <p:sp>
        <p:nvSpPr>
          <p:cNvPr id="45" name="Shape 35"/>
          <p:cNvSpPr/>
          <p:nvPr/>
        </p:nvSpPr>
        <p:spPr>
          <a:xfrm>
            <a:off x="9308592" y="4718304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4809744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765792" y="47183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48" name="Shape 37"/>
          <p:cNvSpPr/>
          <p:nvPr/>
        </p:nvSpPr>
        <p:spPr>
          <a:xfrm>
            <a:off x="6629400" y="5230368"/>
            <a:ext cx="5102352" cy="1243584"/>
          </a:xfrm>
          <a:prstGeom prst="roundRect">
            <a:avLst>
              <a:gd name="adj" fmla="val 5147"/>
            </a:avLst>
          </a:prstGeom>
          <a:solidFill>
            <a:srgbClr val="ECEFF7"/>
          </a:solidFill>
          <a:ln/>
        </p:spPr>
      </p:sp>
      <p:sp>
        <p:nvSpPr>
          <p:cNvPr id="49" name="Text 38"/>
          <p:cNvSpPr txBox="1"/>
          <p:nvPr/>
        </p:nvSpPr>
        <p:spPr>
          <a:xfrm>
            <a:off x="6830568" y="5340096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SCALE  </a:t>
            </a:r>
            <a:pPr indent="0" marL="0">
              <a:buNone/>
            </a:pPr>
            <a:r>
              <a:rPr lang="en-US" sz="1050" b="1" dirty="0">
                <a:solidFill>
                  <a:srgbClr val="0A2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analytics re-platform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6830568" y="5596128"/>
            <a:ext cx="156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A2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51" name="Text 40"/>
          <p:cNvSpPr txBox="1"/>
          <p:nvPr/>
        </p:nvSpPr>
        <p:spPr>
          <a:xfrm>
            <a:off x="6830568" y="5998464"/>
            <a:ext cx="156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units migrated</a:t>
            </a:r>
            <a:endParaRPr lang="en-US" sz="850" dirty="0"/>
          </a:p>
        </p:txBody>
      </p:sp>
      <p:sp>
        <p:nvSpPr>
          <p:cNvPr id="52" name="Text 41"/>
          <p:cNvSpPr txBox="1"/>
          <p:nvPr/>
        </p:nvSpPr>
        <p:spPr>
          <a:xfrm>
            <a:off x="8397240" y="5596128"/>
            <a:ext cx="156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00" dirty="0"/>
          </a:p>
        </p:txBody>
      </p:sp>
      <p:sp>
        <p:nvSpPr>
          <p:cNvPr id="53" name="Text 42"/>
          <p:cNvSpPr txBox="1"/>
          <p:nvPr/>
        </p:nvSpPr>
        <p:spPr>
          <a:xfrm>
            <a:off x="8397240" y="5998464"/>
            <a:ext cx="156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parity</a:t>
            </a:r>
            <a:endParaRPr lang="en-US" sz="850" dirty="0"/>
          </a:p>
        </p:txBody>
      </p:sp>
      <p:sp>
        <p:nvSpPr>
          <p:cNvPr id="54" name="Text 43"/>
          <p:cNvSpPr txBox="1"/>
          <p:nvPr/>
        </p:nvSpPr>
        <p:spPr>
          <a:xfrm>
            <a:off x="9963912" y="5596128"/>
            <a:ext cx="156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3B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700" dirty="0"/>
          </a:p>
        </p:txBody>
      </p:sp>
      <p:sp>
        <p:nvSpPr>
          <p:cNvPr id="55" name="Text 44"/>
          <p:cNvSpPr txBox="1"/>
          <p:nvPr/>
        </p:nvSpPr>
        <p:spPr>
          <a:xfrm>
            <a:off x="9963912" y="5998464"/>
            <a:ext cx="156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to users</a:t>
            </a:r>
            <a:endParaRPr lang="en-US" sz="850" dirty="0"/>
          </a:p>
        </p:txBody>
      </p:sp>
      <p:sp>
        <p:nvSpPr>
          <p:cNvPr id="56" name="Text 45"/>
          <p:cNvSpPr txBox="1"/>
          <p:nvPr/>
        </p:nvSpPr>
        <p:spPr>
          <a:xfrm>
            <a:off x="6830568" y="6236208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stack → Snowflake + Microsoft Fabric with MDM · zero end-user disruption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2026-10-05T15:34:52Z</dcterms:created>
  <dcterms:modified xsi:type="dcterms:W3CDTF">2026-10-05T15:34:52Z</dcterms:modified>
</cp:coreProperties>
</file>