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7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Data Science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834640" cy="420624"/>
          </a:xfrm>
          <a:prstGeom prst="roundRect">
            <a:avLst>
              <a:gd name="adj" fmla="val 15217"/>
            </a:avLst>
          </a:prstGeom>
          <a:solidFill>
            <a:srgbClr val="009C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+ Power BI, Done Right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5262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B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IQVIA's reference architecture for governed, near-real-time analytics on Microsoft Fabric.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8368" y="5989320"/>
            <a:ext cx="457200" cy="457200"/>
          </a:xfrm>
          <a:prstGeom prst="ellipse">
            <a:avLst/>
          </a:prstGeom>
          <a:solidFill>
            <a:srgbClr val="16305F"/>
          </a:solidFill>
          <a:ln w="12700">
            <a:solidFill>
              <a:srgbClr val="009CA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11733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25296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04288" y="6144768"/>
            <a:ext cx="237744" cy="146304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2" name="Shape 9"/>
          <p:cNvSpPr/>
          <p:nvPr/>
        </p:nvSpPr>
        <p:spPr>
          <a:xfrm>
            <a:off x="2688336" y="5989320"/>
            <a:ext cx="457200" cy="457200"/>
          </a:xfrm>
          <a:prstGeom prst="ellipse">
            <a:avLst/>
          </a:prstGeom>
          <a:solidFill>
            <a:srgbClr val="16305F"/>
          </a:solidFill>
          <a:ln w="12700">
            <a:solidFill>
              <a:srgbClr val="009CA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611733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55264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· OneLake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91456" y="6144768"/>
            <a:ext cx="237744" cy="146304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6" name="Shape 12"/>
          <p:cNvSpPr/>
          <p:nvPr/>
        </p:nvSpPr>
        <p:spPr>
          <a:xfrm>
            <a:off x="5175504" y="5989320"/>
            <a:ext cx="457200" cy="457200"/>
          </a:xfrm>
          <a:prstGeom prst="ellipse">
            <a:avLst/>
          </a:prstGeom>
          <a:solidFill>
            <a:srgbClr val="16305F"/>
          </a:solidFill>
          <a:ln w="12700">
            <a:solidFill>
              <a:srgbClr val="009CA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611733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42432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Copilot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usual patterns force a trade-off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0468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03504" cy="603504"/>
          </a:xfrm>
          <a:prstGeom prst="ellipse">
            <a:avLst/>
          </a:prstGeom>
          <a:solidFill>
            <a:srgbClr val="C979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037466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38528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DirectQuery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50" b="1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and always fresh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4864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queries Snowflake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scales with users and usage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Slower, network-bound visuals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27064" y="1600200"/>
            <a:ext cx="550468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47104" y="1874520"/>
            <a:ext cx="603504" cy="603504"/>
          </a:xfrm>
          <a:prstGeom prst="ellipse">
            <a:avLst/>
          </a:prstGeom>
          <a:solidFill>
            <a:srgbClr val="C9791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050" y="2037466"/>
            <a:ext cx="277612" cy="2776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24344" y="1938528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547104" y="2697480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50" b="1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cheap at query time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547104" y="3154680"/>
            <a:ext cx="4864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goes stale between refreshes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Heavy, scheduled refresh windows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in-memory models to manage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A2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shouldn't have to choose between fresh and affordable.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into OneLake, serve via Direct Lake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0A2756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3956" y="1947672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089" y="2095805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6207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23360" y="2382012"/>
            <a:ext cx="256032" cy="219456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178308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009CA6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20156" y="1947672"/>
            <a:ext cx="548640" cy="54864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289" y="2095805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256032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Mirroring → OneLake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286207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CDC · Delta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909560" y="2382012"/>
            <a:ext cx="256032" cy="219456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0" y="178308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43B02A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06356" y="1947672"/>
            <a:ext cx="548640" cy="548640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489" y="2095805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256032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Copilot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86207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Lake · AI insights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02920" y="3977640"/>
            <a:ext cx="3584448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224528"/>
            <a:ext cx="530352" cy="530352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35" y="4367723"/>
            <a:ext cx="243962" cy="24396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42519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8920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keeps data near-real-time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43400" y="3977640"/>
            <a:ext cx="3584448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17720" y="4224528"/>
            <a:ext cx="530352" cy="530352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915" y="4367723"/>
            <a:ext cx="243962" cy="24396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03520" y="42519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7720" y="48920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Delta, no DirectQuery hops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83880" y="3977640"/>
            <a:ext cx="3584448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58200" y="4224528"/>
            <a:ext cx="530352" cy="530352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1395" y="4367723"/>
            <a:ext cx="243962" cy="24396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44000" y="42519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458200" y="48920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per-query Snowflake cost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PATTERN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bring Snowflake into Fabric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84448" cy="2697480"/>
          </a:xfrm>
          <a:prstGeom prst="roundRect">
            <a:avLst>
              <a:gd name="adj" fmla="val 3051"/>
            </a:avLst>
          </a:prstGeom>
          <a:solidFill>
            <a:srgbClr val="E7F5F6"/>
          </a:solidFill>
          <a:ln w="25400">
            <a:solidFill>
              <a:srgbClr val="009CA6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20240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068373"/>
            <a:ext cx="252374" cy="2523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70048" y="193852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009CA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70048" y="1938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26060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Mirroring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3182112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CDC replication into OneLake as Delta.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3886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 </a:t>
            </a:r>
            <a:pPr indent="0" marL="0">
              <a:buNone/>
            </a:pPr>
            <a:r>
              <a:rPr lang="en-US" sz="10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Fabric-first Power BI estates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1645920"/>
            <a:ext cx="3584448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9432" y="1920240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206837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99432" y="26060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 Shortcut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99432" y="3182112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Zero-copy read of Snowflake-managed Iceberg.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99432" y="3886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 </a:t>
            </a:r>
            <a:pPr indent="0" marL="0">
              <a:buNone/>
            </a:pPr>
            <a:r>
              <a:rPr lang="en-US" sz="10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architectural change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83880" y="1645920"/>
            <a:ext cx="3584448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39912" y="1920240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5" y="2068373"/>
            <a:ext cx="252374" cy="25237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39912" y="260604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→ Iceberg in OneLake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439912" y="3182112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open-format copy, no replication.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8439912" y="3886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 </a:t>
            </a:r>
            <a:pPr indent="0" marL="0">
              <a:buNone/>
            </a:pPr>
            <a:r>
              <a:rPr lang="en-US" sz="10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open architecture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02920" y="4572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Mirroring is our default for Power BI-centric estates; the Iceberg patterns fit zero-copy or open-format mandates. We pick per client.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end: source to AI-assisted insight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53060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6B7A99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8181" y="2084832"/>
            <a:ext cx="548640" cy="548640"/>
          </a:xfrm>
          <a:prstGeom prst="ellipse">
            <a:avLst/>
          </a:prstGeom>
          <a:solidFill>
            <a:srgbClr val="6B7A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314" y="2232965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97480"/>
            <a:ext cx="23477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99232"/>
            <a:ext cx="234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· CRM · HR · files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051810" y="2519172"/>
            <a:ext cx="256032" cy="219456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0" name="Shape 7"/>
          <p:cNvSpPr/>
          <p:nvPr/>
        </p:nvSpPr>
        <p:spPr>
          <a:xfrm>
            <a:off x="3371850" y="1920240"/>
            <a:ext cx="253060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0A2756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2831" y="2084832"/>
            <a:ext cx="548640" cy="54864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964" y="2232965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63290" y="2697480"/>
            <a:ext cx="23477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463290" y="2999232"/>
            <a:ext cx="234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66460" y="2519172"/>
            <a:ext cx="256032" cy="219456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16" name="Shape 12"/>
          <p:cNvSpPr/>
          <p:nvPr/>
        </p:nvSpPr>
        <p:spPr>
          <a:xfrm>
            <a:off x="6286500" y="1920240"/>
            <a:ext cx="253060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009CA6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77481" y="2084832"/>
            <a:ext cx="548640" cy="54864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614" y="2232965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77940" y="2697480"/>
            <a:ext cx="23477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Mirror → OneLake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377940" y="2999232"/>
            <a:ext cx="234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· Delta/Parquet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881110" y="2519172"/>
            <a:ext cx="256032" cy="219456"/>
          </a:xfrm>
          <a:prstGeom prst="rightArrow">
            <a:avLst/>
          </a:prstGeom>
          <a:solidFill>
            <a:srgbClr val="009CA6"/>
          </a:solidFill>
          <a:ln/>
        </p:spPr>
      </p:sp>
      <p:sp>
        <p:nvSpPr>
          <p:cNvPr id="22" name="Shape 17"/>
          <p:cNvSpPr/>
          <p:nvPr/>
        </p:nvSpPr>
        <p:spPr>
          <a:xfrm>
            <a:off x="9201150" y="1920240"/>
            <a:ext cx="253060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43B02A"/>
            </a:solidFill>
            <a:prstDash val="solid"/>
          </a:ln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92131" y="2084832"/>
            <a:ext cx="548640" cy="548640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0264" y="2232965"/>
            <a:ext cx="252374" cy="25237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92590" y="2697480"/>
            <a:ext cx="23477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+ Copilot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9292590" y="2999232"/>
            <a:ext cx="234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Lake · AI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6118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CEFF7"/>
          </a:solidFill>
          <a:ln/>
        </p:spPr>
      </p:sp>
      <p:sp>
        <p:nvSpPr>
          <p:cNvPr id="28" name="Shape 22"/>
          <p:cNvSpPr/>
          <p:nvPr/>
        </p:nvSpPr>
        <p:spPr>
          <a:xfrm>
            <a:off x="676656" y="3712464"/>
            <a:ext cx="365760" cy="36576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" y="3811219"/>
            <a:ext cx="168250" cy="16825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361188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end to end   </a:t>
            </a:r>
            <a:pPr indent="0" marL="0">
              <a:buNone/>
            </a:pPr>
            <a:r>
              <a:rPr lang="en-US" sz="11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· certified datasets · lineage · MDM · OneLake security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502920" y="4892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 copy in OneLake powers BI and data science alike — open Delta format, no lock-in, no duplicate pipelines.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33" name="Text 26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Fresh, fast and affordable — at the same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9344"/>
            <a:ext cx="457200" cy="45720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732788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7276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don't scale with clicks.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usage is decoupled from Snowflake query compute.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574036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41401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current.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CDC replaces overnight batch — no refresh windows.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43B02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41528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255264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Import-class speed.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Lake reads optimized Delta locally in OneLake.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256532"/>
            <a:ext cx="210312" cy="2103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409651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governance.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RLS, certified datasets, lineage and MDM, centrally applied.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974336"/>
            <a:ext cx="457200" cy="45720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5097780"/>
            <a:ext cx="210312" cy="2103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493776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and included.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Delta format; Fabric replication and mirroring storage free to capacity.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9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note:  </a:t>
            </a:r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polling keeps a small, predictable Snowflake compute cost — scoped by reusing a warehouse and mirroring only the tables you need.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21" name="Text 14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IQVIA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design, build and run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897" y="1829897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65506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842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through governed, AI-ready dashboards.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12064" cy="512064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97" y="2881457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7066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+ Snowflake depth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0358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mirroring, Direct Lake, OneLake and MDM in production.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512064" cy="512064"/>
          </a:xfrm>
          <a:prstGeom prst="ellipse">
            <a:avLst/>
          </a:prstGeom>
          <a:solidFill>
            <a:srgbClr val="0A275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" y="393301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75818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built in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087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security, certified datasets and full lineage.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949440" y="1691640"/>
            <a:ext cx="4736592" cy="3291840"/>
          </a:xfrm>
          <a:prstGeom prst="roundRect">
            <a:avLst>
              <a:gd name="adj" fmla="val 3333"/>
            </a:avLst>
          </a:prstGeom>
          <a:solidFill>
            <a:srgbClr val="0A2756"/>
          </a:solidFill>
          <a:ln/>
          <a:effectLst>
            <a:outerShdw sx="100000" sy="100000" kx="0" ky="0" algn="bl" rotWithShape="0" blurRad="88900" dist="25400" dir="5400000">
              <a:srgbClr val="99A3B5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69480" y="2011680"/>
            <a:ext cx="640080" cy="640080"/>
          </a:xfrm>
          <a:prstGeom prst="ellipse">
            <a:avLst/>
          </a:prstGeom>
          <a:solidFill>
            <a:srgbClr val="009CA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302" y="2184502"/>
            <a:ext cx="294437" cy="2944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9480" y="2788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an architecture assessment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7269480" y="3657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review your Snowflake usage, reporting patterns and governance needs, then deliver the target mirroring + Direct Lake design and a phased rollout plan.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IQVIA  ·  Snowflake + Power BI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2026-10-05T15:47:49Z</dcterms:created>
  <dcterms:modified xsi:type="dcterms:W3CDTF">2026-10-05T15:47:49Z</dcterms:modified>
</cp:coreProperties>
</file>